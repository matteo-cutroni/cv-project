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3" r:id="rId4"/>
    <p:sldMasterId id="214748367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y="5143500" cx="9144000"/>
  <p:notesSz cx="6858000" cy="9144000"/>
  <p:embeddedFontLst>
    <p:embeddedFont>
      <p:font typeface="Quattrocento Sans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QuattrocentoSans-bold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font" Target="fonts/QuattrocentoSans-regular.fntdata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2.xml"/><Relationship Id="rId19" Type="http://schemas.openxmlformats.org/officeDocument/2006/relationships/font" Target="fonts/QuattrocentoSans-italic.fntdata"/><Relationship Id="rId6" Type="http://schemas.openxmlformats.org/officeDocument/2006/relationships/notesMaster" Target="notesMasters/notesMaster1.xml"/><Relationship Id="rId18" Type="http://schemas.openxmlformats.org/officeDocument/2006/relationships/font" Target="fonts/QuattrocentoSans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b9684a3994_2_96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it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g3b9684a3994_2_9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9" name="Google Shape;149;g3b9684a3994_2_9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b9684a3994_2_107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it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g3b9684a3994_2_10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0" name="Google Shape;160;g3b9684a3994_2_10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b9684a3994_2_11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0" name="Google Shape;170;g3b9684a3994_2_11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b9684a3994_2_125:notes"/>
          <p:cNvSpPr txBox="1"/>
          <p:nvPr/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it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g3b9684a3994_2_12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0" name="Google Shape;180;g3b9684a3994_2_12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b9684a3994_2_13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g3b9684a3994_2_13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b9684a3994_2_14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96" name="Google Shape;196;g3b9684a3994_2_14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7" name="Google Shape;197;g3b9684a3994_2_146:notes"/>
          <p:cNvSpPr txBox="1"/>
          <p:nvPr>
            <p:ph idx="12"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 sz="14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b9684a3994_2_15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b9684a3994_2_15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g3b9684a3994_2_155:notes"/>
          <p:cNvSpPr txBox="1"/>
          <p:nvPr>
            <p:ph idx="12"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 sz="14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b9684a3994_2_16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3b9684a3994_2_16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g3b9684a3994_2_163:notes"/>
          <p:cNvSpPr txBox="1"/>
          <p:nvPr>
            <p:ph idx="12"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 sz="140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b9684a3994_2_18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b9684a3994_2_18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g3b9684a3994_2_180:notes"/>
          <p:cNvSpPr txBox="1"/>
          <p:nvPr>
            <p:ph idx="12"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 sz="140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b9684a3994_2_18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b9684a3994_2_18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g3b9684a3994_2_189:notes"/>
          <p:cNvSpPr txBox="1"/>
          <p:nvPr>
            <p:ph idx="12"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it"/>
              <a:t>‹#›</a:t>
            </a:fld>
            <a:endParaRPr sz="1400"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titolo" type="title">
  <p:cSld name="TITLE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62" name="Google Shape;62;p14"/>
          <p:cNvSpPr txBox="1"/>
          <p:nvPr>
            <p:ph idx="10" type="dt"/>
          </p:nvPr>
        </p:nvSpPr>
        <p:spPr>
          <a:xfrm>
            <a:off x="43434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4"/>
          <p:cNvSpPr txBox="1"/>
          <p:nvPr>
            <p:ph idx="11" type="ftr"/>
          </p:nvPr>
        </p:nvSpPr>
        <p:spPr>
          <a:xfrm>
            <a:off x="1219200" y="461129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4"/>
          <p:cNvSpPr txBox="1"/>
          <p:nvPr>
            <p:ph idx="12" type="sldNum"/>
          </p:nvPr>
        </p:nvSpPr>
        <p:spPr>
          <a:xfrm>
            <a:off x="65532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Pagina </a:t>
            </a: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, testo e contenuto" type="txAndObj">
  <p:cSld name="TEXT_AND_OBJEC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1116013" y="307181"/>
            <a:ext cx="7559675" cy="435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1116013" y="1314450"/>
            <a:ext cx="3703637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15"/>
          <p:cNvSpPr txBox="1"/>
          <p:nvPr>
            <p:ph idx="2" type="body"/>
          </p:nvPr>
        </p:nvSpPr>
        <p:spPr>
          <a:xfrm>
            <a:off x="4972050" y="1314450"/>
            <a:ext cx="3703638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9" name="Google Shape;69;p15"/>
          <p:cNvSpPr txBox="1"/>
          <p:nvPr>
            <p:ph idx="10" type="dt"/>
          </p:nvPr>
        </p:nvSpPr>
        <p:spPr>
          <a:xfrm>
            <a:off x="43434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11" type="ftr"/>
          </p:nvPr>
        </p:nvSpPr>
        <p:spPr>
          <a:xfrm>
            <a:off x="1219200" y="461129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5"/>
          <p:cNvSpPr txBox="1"/>
          <p:nvPr>
            <p:ph idx="12" type="sldNum"/>
          </p:nvPr>
        </p:nvSpPr>
        <p:spPr>
          <a:xfrm>
            <a:off x="65532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Pagina </a:t>
            </a: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e contenuto" type="obj">
  <p:cSld name="OBJEC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>
            <p:ph type="title"/>
          </p:nvPr>
        </p:nvSpPr>
        <p:spPr>
          <a:xfrm>
            <a:off x="1116012" y="307181"/>
            <a:ext cx="7559675" cy="435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1" type="body"/>
          </p:nvPr>
        </p:nvSpPr>
        <p:spPr>
          <a:xfrm>
            <a:off x="1116012" y="1314450"/>
            <a:ext cx="7559675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6"/>
          <p:cNvSpPr txBox="1"/>
          <p:nvPr>
            <p:ph idx="10" type="dt"/>
          </p:nvPr>
        </p:nvSpPr>
        <p:spPr>
          <a:xfrm>
            <a:off x="43434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11" type="ftr"/>
          </p:nvPr>
        </p:nvSpPr>
        <p:spPr>
          <a:xfrm>
            <a:off x="1219200" y="461129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6"/>
          <p:cNvSpPr txBox="1"/>
          <p:nvPr>
            <p:ph idx="12" type="sldNum"/>
          </p:nvPr>
        </p:nvSpPr>
        <p:spPr>
          <a:xfrm>
            <a:off x="65532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Pagina </a:t>
            </a: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e tabella" type="tbl">
  <p:cSld name="TABLE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/>
          <p:nvPr>
            <p:ph type="title"/>
          </p:nvPr>
        </p:nvSpPr>
        <p:spPr>
          <a:xfrm>
            <a:off x="1116013" y="307181"/>
            <a:ext cx="7559675" cy="435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0" type="dt"/>
          </p:nvPr>
        </p:nvSpPr>
        <p:spPr>
          <a:xfrm>
            <a:off x="43434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1" type="ftr"/>
          </p:nvPr>
        </p:nvSpPr>
        <p:spPr>
          <a:xfrm>
            <a:off x="1219200" y="461129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7"/>
          <p:cNvSpPr txBox="1"/>
          <p:nvPr>
            <p:ph idx="12" type="sldNum"/>
          </p:nvPr>
        </p:nvSpPr>
        <p:spPr>
          <a:xfrm>
            <a:off x="65532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Pagina </a:t>
            </a: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e grafico" type="chart">
  <p:cSld name="CHART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>
            <p:ph type="title"/>
          </p:nvPr>
        </p:nvSpPr>
        <p:spPr>
          <a:xfrm>
            <a:off x="1116013" y="307181"/>
            <a:ext cx="7559675" cy="435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8"/>
          <p:cNvSpPr/>
          <p:nvPr>
            <p:ph idx="2" type="chart"/>
          </p:nvPr>
        </p:nvSpPr>
        <p:spPr>
          <a:xfrm>
            <a:off x="1116013" y="1314450"/>
            <a:ext cx="7559675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–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»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10" type="dt"/>
          </p:nvPr>
        </p:nvSpPr>
        <p:spPr>
          <a:xfrm>
            <a:off x="43434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1" type="ftr"/>
          </p:nvPr>
        </p:nvSpPr>
        <p:spPr>
          <a:xfrm>
            <a:off x="1219200" y="461129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2" type="sldNum"/>
          </p:nvPr>
        </p:nvSpPr>
        <p:spPr>
          <a:xfrm>
            <a:off x="65532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Pagina </a:t>
            </a: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olo e testo verticale" type="vertTitleAndTx">
  <p:cSld name="VERTICAL_TITLE_AND_VERTICAL_TEXT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type="title"/>
          </p:nvPr>
        </p:nvSpPr>
        <p:spPr>
          <a:xfrm rot="5400000">
            <a:off x="5684441" y="1409303"/>
            <a:ext cx="4093369" cy="1889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9"/>
          <p:cNvSpPr txBox="1"/>
          <p:nvPr>
            <p:ph idx="1" type="body"/>
          </p:nvPr>
        </p:nvSpPr>
        <p:spPr>
          <a:xfrm rot="5400000">
            <a:off x="1828404" y="-405209"/>
            <a:ext cx="4093369" cy="55181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0" type="dt"/>
          </p:nvPr>
        </p:nvSpPr>
        <p:spPr>
          <a:xfrm>
            <a:off x="43434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1" type="ftr"/>
          </p:nvPr>
        </p:nvSpPr>
        <p:spPr>
          <a:xfrm>
            <a:off x="1219200" y="461129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65532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Pagina </a:t>
            </a: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e testo verticale" type="vertTx">
  <p:cSld name="VERTICAL_TEXT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type="title"/>
          </p:nvPr>
        </p:nvSpPr>
        <p:spPr>
          <a:xfrm>
            <a:off x="1116012" y="307181"/>
            <a:ext cx="7559675" cy="435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" type="body"/>
          </p:nvPr>
        </p:nvSpPr>
        <p:spPr>
          <a:xfrm rot="5400000">
            <a:off x="3352799" y="-922337"/>
            <a:ext cx="3086100" cy="75596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0" type="dt"/>
          </p:nvPr>
        </p:nvSpPr>
        <p:spPr>
          <a:xfrm>
            <a:off x="43434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20"/>
          <p:cNvSpPr txBox="1"/>
          <p:nvPr>
            <p:ph idx="11" type="ftr"/>
          </p:nvPr>
        </p:nvSpPr>
        <p:spPr>
          <a:xfrm>
            <a:off x="1219200" y="461129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p20"/>
          <p:cNvSpPr txBox="1"/>
          <p:nvPr>
            <p:ph idx="12" type="sldNum"/>
          </p:nvPr>
        </p:nvSpPr>
        <p:spPr>
          <a:xfrm>
            <a:off x="65532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Pagina </a:t>
            </a: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magine con didascalia" type="picTx">
  <p:cSld name="PICTURE_WITH_CAPTION_TEXT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1"/>
          <p:cNvSpPr txBox="1"/>
          <p:nvPr>
            <p:ph type="title"/>
          </p:nvPr>
        </p:nvSpPr>
        <p:spPr>
          <a:xfrm>
            <a:off x="630238" y="342900"/>
            <a:ext cx="2949575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21"/>
          <p:cNvSpPr/>
          <p:nvPr>
            <p:ph idx="2" type="pic"/>
          </p:nvPr>
        </p:nvSpPr>
        <p:spPr>
          <a:xfrm>
            <a:off x="3887788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21"/>
          <p:cNvSpPr txBox="1"/>
          <p:nvPr>
            <p:ph idx="1" type="body"/>
          </p:nvPr>
        </p:nvSpPr>
        <p:spPr>
          <a:xfrm>
            <a:off x="630238" y="1543050"/>
            <a:ext cx="2949575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Font typeface="Arial"/>
              <a:buNone/>
              <a:defRPr sz="1600"/>
            </a:lvl1pPr>
            <a:lvl2pPr indent="-228600" lvl="1" marL="914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/>
            </a:lvl2pPr>
            <a:lvl3pPr indent="-228600" lvl="2" marL="1371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05" name="Google Shape;105;p21"/>
          <p:cNvSpPr txBox="1"/>
          <p:nvPr>
            <p:ph idx="10" type="dt"/>
          </p:nvPr>
        </p:nvSpPr>
        <p:spPr>
          <a:xfrm>
            <a:off x="43434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21"/>
          <p:cNvSpPr txBox="1"/>
          <p:nvPr>
            <p:ph idx="11" type="ftr"/>
          </p:nvPr>
        </p:nvSpPr>
        <p:spPr>
          <a:xfrm>
            <a:off x="1219200" y="461129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p21"/>
          <p:cNvSpPr txBox="1"/>
          <p:nvPr>
            <p:ph idx="12" type="sldNum"/>
          </p:nvPr>
        </p:nvSpPr>
        <p:spPr>
          <a:xfrm>
            <a:off x="65532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Pagina </a:t>
            </a: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uto con didascalia" type="objTx">
  <p:cSld name="OBJECT_WITH_CAPTION_TEXT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2"/>
          <p:cNvSpPr txBox="1"/>
          <p:nvPr>
            <p:ph type="title"/>
          </p:nvPr>
        </p:nvSpPr>
        <p:spPr>
          <a:xfrm>
            <a:off x="630238" y="342900"/>
            <a:ext cx="2949575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22"/>
          <p:cNvSpPr txBox="1"/>
          <p:nvPr>
            <p:ph idx="1" type="body"/>
          </p:nvPr>
        </p:nvSpPr>
        <p:spPr>
          <a:xfrm>
            <a:off x="3887788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3200"/>
              <a:buFont typeface="Arial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»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11" name="Google Shape;111;p22"/>
          <p:cNvSpPr txBox="1"/>
          <p:nvPr>
            <p:ph idx="2" type="body"/>
          </p:nvPr>
        </p:nvSpPr>
        <p:spPr>
          <a:xfrm>
            <a:off x="630238" y="1543050"/>
            <a:ext cx="2949575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Font typeface="Arial"/>
              <a:buNone/>
              <a:defRPr sz="1600"/>
            </a:lvl1pPr>
            <a:lvl2pPr indent="-228600" lvl="1" marL="914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/>
            </a:lvl2pPr>
            <a:lvl3pPr indent="-228600" lvl="2" marL="1371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12" name="Google Shape;112;p22"/>
          <p:cNvSpPr txBox="1"/>
          <p:nvPr>
            <p:ph idx="10" type="dt"/>
          </p:nvPr>
        </p:nvSpPr>
        <p:spPr>
          <a:xfrm>
            <a:off x="43434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22"/>
          <p:cNvSpPr txBox="1"/>
          <p:nvPr>
            <p:ph idx="11" type="ftr"/>
          </p:nvPr>
        </p:nvSpPr>
        <p:spPr>
          <a:xfrm>
            <a:off x="1219200" y="461129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22"/>
          <p:cNvSpPr txBox="1"/>
          <p:nvPr>
            <p:ph idx="12" type="sldNum"/>
          </p:nvPr>
        </p:nvSpPr>
        <p:spPr>
          <a:xfrm>
            <a:off x="65532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Pagina </a:t>
            </a: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uota" type="blank">
  <p:cSld name="BLANK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43434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1219200" y="461129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65532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Pagina </a:t>
            </a: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titolo" type="titleOnly">
  <p:cSld name="TITLE_ONLY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>
            <a:off x="1116012" y="307181"/>
            <a:ext cx="7559675" cy="435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0" type="dt"/>
          </p:nvPr>
        </p:nvSpPr>
        <p:spPr>
          <a:xfrm>
            <a:off x="43434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1" type="ftr"/>
          </p:nvPr>
        </p:nvSpPr>
        <p:spPr>
          <a:xfrm>
            <a:off x="1219200" y="461129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2" type="sldNum"/>
          </p:nvPr>
        </p:nvSpPr>
        <p:spPr>
          <a:xfrm>
            <a:off x="65532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Pagina </a:t>
            </a: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fronto" type="twoTxTwoObj">
  <p:cSld name="TWO_OBJECTS_WITH_TEXT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5"/>
          <p:cNvSpPr txBox="1"/>
          <p:nvPr>
            <p:ph type="title"/>
          </p:nvPr>
        </p:nvSpPr>
        <p:spPr>
          <a:xfrm>
            <a:off x="630238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25"/>
          <p:cNvSpPr txBox="1"/>
          <p:nvPr>
            <p:ph idx="1" type="body"/>
          </p:nvPr>
        </p:nvSpPr>
        <p:spPr>
          <a:xfrm>
            <a:off x="630238" y="1260872"/>
            <a:ext cx="3868737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Font typeface="Arial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27" name="Google Shape;127;p25"/>
          <p:cNvSpPr txBox="1"/>
          <p:nvPr>
            <p:ph idx="2" type="body"/>
          </p:nvPr>
        </p:nvSpPr>
        <p:spPr>
          <a:xfrm>
            <a:off x="630238" y="1878806"/>
            <a:ext cx="3868737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8" name="Google Shape;128;p25"/>
          <p:cNvSpPr txBox="1"/>
          <p:nvPr>
            <p:ph idx="3" type="body"/>
          </p:nvPr>
        </p:nvSpPr>
        <p:spPr>
          <a:xfrm>
            <a:off x="4629150" y="1260872"/>
            <a:ext cx="3887788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Font typeface="Arial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29" name="Google Shape;129;p25"/>
          <p:cNvSpPr txBox="1"/>
          <p:nvPr>
            <p:ph idx="4" type="body"/>
          </p:nvPr>
        </p:nvSpPr>
        <p:spPr>
          <a:xfrm>
            <a:off x="4629150" y="1878806"/>
            <a:ext cx="3887788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0" name="Google Shape;130;p25"/>
          <p:cNvSpPr txBox="1"/>
          <p:nvPr>
            <p:ph idx="10" type="dt"/>
          </p:nvPr>
        </p:nvSpPr>
        <p:spPr>
          <a:xfrm>
            <a:off x="43434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25"/>
          <p:cNvSpPr txBox="1"/>
          <p:nvPr>
            <p:ph idx="11" type="ftr"/>
          </p:nvPr>
        </p:nvSpPr>
        <p:spPr>
          <a:xfrm>
            <a:off x="1219200" y="461129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25"/>
          <p:cNvSpPr txBox="1"/>
          <p:nvPr>
            <p:ph idx="12" type="sldNum"/>
          </p:nvPr>
        </p:nvSpPr>
        <p:spPr>
          <a:xfrm>
            <a:off x="65532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Pagina </a:t>
            </a: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e contenuti" type="twoObj">
  <p:cSld name="TWO_OBJECTS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6"/>
          <p:cNvSpPr txBox="1"/>
          <p:nvPr>
            <p:ph type="title"/>
          </p:nvPr>
        </p:nvSpPr>
        <p:spPr>
          <a:xfrm>
            <a:off x="1116012" y="307181"/>
            <a:ext cx="7559675" cy="435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26"/>
          <p:cNvSpPr txBox="1"/>
          <p:nvPr>
            <p:ph idx="1" type="body"/>
          </p:nvPr>
        </p:nvSpPr>
        <p:spPr>
          <a:xfrm>
            <a:off x="1116013" y="1314450"/>
            <a:ext cx="3703637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26"/>
          <p:cNvSpPr txBox="1"/>
          <p:nvPr>
            <p:ph idx="2" type="body"/>
          </p:nvPr>
        </p:nvSpPr>
        <p:spPr>
          <a:xfrm>
            <a:off x="4972050" y="1314450"/>
            <a:ext cx="3703638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7" name="Google Shape;137;p26"/>
          <p:cNvSpPr txBox="1"/>
          <p:nvPr>
            <p:ph idx="10" type="dt"/>
          </p:nvPr>
        </p:nvSpPr>
        <p:spPr>
          <a:xfrm>
            <a:off x="43434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26"/>
          <p:cNvSpPr txBox="1"/>
          <p:nvPr>
            <p:ph idx="11" type="ftr"/>
          </p:nvPr>
        </p:nvSpPr>
        <p:spPr>
          <a:xfrm>
            <a:off x="1219200" y="461129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26"/>
          <p:cNvSpPr txBox="1"/>
          <p:nvPr>
            <p:ph idx="12" type="sldNum"/>
          </p:nvPr>
        </p:nvSpPr>
        <p:spPr>
          <a:xfrm>
            <a:off x="65532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Pagina </a:t>
            </a: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stazione sezione" type="secHead">
  <p:cSld name="SECTION_HEADER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7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27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3" name="Google Shape;143;p27"/>
          <p:cNvSpPr txBox="1"/>
          <p:nvPr>
            <p:ph idx="10" type="dt"/>
          </p:nvPr>
        </p:nvSpPr>
        <p:spPr>
          <a:xfrm>
            <a:off x="43434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4" name="Google Shape;144;p27"/>
          <p:cNvSpPr txBox="1"/>
          <p:nvPr>
            <p:ph idx="11" type="ftr"/>
          </p:nvPr>
        </p:nvSpPr>
        <p:spPr>
          <a:xfrm>
            <a:off x="1219200" y="461129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27"/>
          <p:cNvSpPr txBox="1"/>
          <p:nvPr>
            <p:ph idx="12" type="sldNum"/>
          </p:nvPr>
        </p:nvSpPr>
        <p:spPr>
          <a:xfrm>
            <a:off x="65532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Pagina </a:t>
            </a: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5" Type="http://schemas.openxmlformats.org/officeDocument/2006/relationships/theme" Target="../theme/theme1.xml"/><Relationship Id="rId1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13"/>
          <p:cNvGrpSpPr/>
          <p:nvPr/>
        </p:nvGrpSpPr>
        <p:grpSpPr>
          <a:xfrm>
            <a:off x="0" y="4572000"/>
            <a:ext cx="9144000" cy="571500"/>
            <a:chOff x="0" y="3840"/>
            <a:chExt cx="5760" cy="480"/>
          </a:xfrm>
        </p:grpSpPr>
        <p:sp>
          <p:nvSpPr>
            <p:cNvPr id="52" name="Google Shape;52;p13"/>
            <p:cNvSpPr txBox="1"/>
            <p:nvPr/>
          </p:nvSpPr>
          <p:spPr>
            <a:xfrm>
              <a:off x="0" y="3984"/>
              <a:ext cx="5760" cy="336"/>
            </a:xfrm>
            <a:prstGeom prst="rect">
              <a:avLst/>
            </a:prstGeom>
            <a:solidFill>
              <a:srgbClr val="8224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t/>
              </a:r>
              <a:endPara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53;p13"/>
            <p:cNvSpPr txBox="1"/>
            <p:nvPr/>
          </p:nvSpPr>
          <p:spPr>
            <a:xfrm>
              <a:off x="768" y="3840"/>
              <a:ext cx="4992" cy="480"/>
            </a:xfrm>
            <a:prstGeom prst="rect">
              <a:avLst/>
            </a:prstGeom>
            <a:solidFill>
              <a:srgbClr val="8224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t/>
              </a:r>
              <a:endPara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4" name="Google Shape;54;p13"/>
          <p:cNvSpPr txBox="1"/>
          <p:nvPr>
            <p:ph type="title"/>
          </p:nvPr>
        </p:nvSpPr>
        <p:spPr>
          <a:xfrm>
            <a:off x="1116012" y="307181"/>
            <a:ext cx="7559675" cy="435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400" u="none" cap="none" strike="noStrik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400" u="none" cap="none" strike="noStrik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400" u="none" cap="none" strike="noStrik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400" u="none" cap="none" strike="noStrik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400" u="none" cap="none" strike="noStrik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400" u="none" cap="none" strike="noStrik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400" u="none" cap="none" strike="noStrik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400" u="none" cap="none" strike="noStrik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400" u="none" cap="none" strike="noStrike">
                <a:solidFill>
                  <a:srgbClr val="82243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" type="body"/>
          </p:nvPr>
        </p:nvSpPr>
        <p:spPr>
          <a:xfrm>
            <a:off x="1116012" y="1314450"/>
            <a:ext cx="7559675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–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»"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6" name="Google Shape;56;p13"/>
          <p:cNvSpPr txBox="1"/>
          <p:nvPr>
            <p:ph idx="10" type="dt"/>
          </p:nvPr>
        </p:nvSpPr>
        <p:spPr>
          <a:xfrm>
            <a:off x="43434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1" type="ftr"/>
          </p:nvPr>
        </p:nvSpPr>
        <p:spPr>
          <a:xfrm>
            <a:off x="1219200" y="461129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3"/>
          <p:cNvSpPr txBox="1"/>
          <p:nvPr>
            <p:ph idx="12" type="sldNum"/>
          </p:nvPr>
        </p:nvSpPr>
        <p:spPr>
          <a:xfrm>
            <a:off x="65532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Pagina </a:t>
            </a:r>
            <a:fld id="{00000000-1234-1234-1234-123412341234}" type="slidenum">
              <a:rPr lang="it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bg>
      <p:bgPr>
        <a:solidFill>
          <a:schemeClr val="lt1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8"/>
          <p:cNvSpPr txBox="1"/>
          <p:nvPr>
            <p:ph idx="1" type="subTitle"/>
          </p:nvPr>
        </p:nvSpPr>
        <p:spPr>
          <a:xfrm>
            <a:off x="2243137" y="596503"/>
            <a:ext cx="6138862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/>
          </a:p>
        </p:txBody>
      </p:sp>
      <p:grpSp>
        <p:nvGrpSpPr>
          <p:cNvPr id="152" name="Google Shape;152;p28"/>
          <p:cNvGrpSpPr/>
          <p:nvPr/>
        </p:nvGrpSpPr>
        <p:grpSpPr>
          <a:xfrm>
            <a:off x="-9525" y="0"/>
            <a:ext cx="9153525" cy="5143500"/>
            <a:chOff x="-6" y="0"/>
            <a:chExt cx="5766" cy="4320"/>
          </a:xfrm>
        </p:grpSpPr>
        <p:sp>
          <p:nvSpPr>
            <p:cNvPr id="153" name="Google Shape;153;p28"/>
            <p:cNvSpPr txBox="1"/>
            <p:nvPr/>
          </p:nvSpPr>
          <p:spPr>
            <a:xfrm>
              <a:off x="-6" y="0"/>
              <a:ext cx="5760" cy="2160"/>
            </a:xfrm>
            <a:prstGeom prst="rect">
              <a:avLst/>
            </a:prstGeom>
            <a:solidFill>
              <a:srgbClr val="C0CED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t/>
              </a:r>
              <a:endPara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54" name="Google Shape;154;p2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0" y="1728"/>
              <a:ext cx="5760" cy="259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5" name="Google Shape;155;p28"/>
          <p:cNvSpPr txBox="1"/>
          <p:nvPr>
            <p:ph type="ctrTitle"/>
          </p:nvPr>
        </p:nvSpPr>
        <p:spPr>
          <a:xfrm>
            <a:off x="2098675" y="775097"/>
            <a:ext cx="6427787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2800"/>
              <a:buFont typeface="Arial"/>
              <a:buNone/>
            </a:pPr>
            <a:r>
              <a:rPr lang="it" sz="2800"/>
              <a:t>Efficient Training Process for GANs</a:t>
            </a:r>
            <a:endParaRPr sz="2800"/>
          </a:p>
        </p:txBody>
      </p:sp>
      <p:sp>
        <p:nvSpPr>
          <p:cNvPr id="156" name="Google Shape;156;p28"/>
          <p:cNvSpPr txBox="1"/>
          <p:nvPr/>
        </p:nvSpPr>
        <p:spPr>
          <a:xfrm>
            <a:off x="4643424" y="4019550"/>
            <a:ext cx="4432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</a:pPr>
            <a:r>
              <a:rPr b="1" i="0" lang="it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Authors:</a:t>
            </a:r>
            <a:r>
              <a:rPr b="0" i="0" lang="it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1" lang="it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Matteo Cutroni (1918336)</a:t>
            </a:r>
            <a:br>
              <a:rPr b="0" i="0" lang="it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it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Course:</a:t>
            </a:r>
            <a:r>
              <a:rPr b="0" i="0" lang="it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it" sz="1200">
                <a:solidFill>
                  <a:schemeClr val="lt1"/>
                </a:solidFill>
              </a:rPr>
              <a:t>Computer Vision</a:t>
            </a:r>
            <a:br>
              <a:rPr b="0" i="0" lang="it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it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Academic Year:</a:t>
            </a:r>
            <a:r>
              <a:rPr b="0" i="0" lang="it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1" lang="it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2025-2026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/>
        </p:nvSpPr>
        <p:spPr>
          <a:xfrm>
            <a:off x="1219200" y="4611281"/>
            <a:ext cx="3670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" sz="1500">
                <a:solidFill>
                  <a:schemeClr val="lt1"/>
                </a:solidFill>
              </a:rPr>
              <a:t>Computer Vision</a:t>
            </a:r>
            <a:endParaRPr b="0" i="0" sz="15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29"/>
          <p:cNvSpPr txBox="1"/>
          <p:nvPr/>
        </p:nvSpPr>
        <p:spPr>
          <a:xfrm>
            <a:off x="6553200" y="4621123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it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Pagina </a:t>
            </a:r>
            <a:fld id="{00000000-1234-1234-1234-123412341234}" type="slidenum">
              <a:rPr b="0" i="0" lang="it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r>
              <a:rPr b="0" i="0" lang="it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/1</a:t>
            </a:r>
            <a:r>
              <a:rPr lang="it" sz="1100">
                <a:solidFill>
                  <a:schemeClr val="lt1"/>
                </a:solidFill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9"/>
          <p:cNvSpPr txBox="1"/>
          <p:nvPr>
            <p:ph type="title"/>
          </p:nvPr>
        </p:nvSpPr>
        <p:spPr>
          <a:xfrm>
            <a:off x="1116012" y="303609"/>
            <a:ext cx="7416800" cy="3821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None/>
            </a:pPr>
            <a:r>
              <a:rPr lang="it"/>
              <a:t>Outline</a:t>
            </a:r>
            <a:endParaRPr/>
          </a:p>
        </p:txBody>
      </p:sp>
      <p:sp>
        <p:nvSpPr>
          <p:cNvPr id="165" name="Google Shape;165;p29"/>
          <p:cNvSpPr txBox="1"/>
          <p:nvPr>
            <p:ph idx="1" type="body"/>
          </p:nvPr>
        </p:nvSpPr>
        <p:spPr>
          <a:xfrm>
            <a:off x="756450" y="1111350"/>
            <a:ext cx="3141000" cy="29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9250" lvl="0" marL="45720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900"/>
              <a:buChar char="•"/>
            </a:pPr>
            <a:r>
              <a:rPr lang="it" sz="1900"/>
              <a:t>Problem Statement</a:t>
            </a:r>
            <a:endParaRPr sz="1900"/>
          </a:p>
          <a:p>
            <a:pPr indent="-349250" lvl="0" marL="45720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900"/>
              <a:buChar char="•"/>
            </a:pPr>
            <a:r>
              <a:rPr lang="it" sz="1900"/>
              <a:t>State of the art</a:t>
            </a:r>
            <a:endParaRPr sz="1900"/>
          </a:p>
          <a:p>
            <a:pPr indent="-349250" lvl="0" marL="45720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900"/>
              <a:buChar char="•"/>
            </a:pPr>
            <a:r>
              <a:rPr lang="it" sz="1900"/>
              <a:t>Proposed Method</a:t>
            </a:r>
            <a:endParaRPr sz="1900"/>
          </a:p>
          <a:p>
            <a:pPr indent="-349250" lvl="0" marL="45720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900"/>
              <a:buChar char="•"/>
            </a:pPr>
            <a:r>
              <a:rPr lang="it" sz="1900"/>
              <a:t>Dataset</a:t>
            </a:r>
            <a:endParaRPr sz="1900"/>
          </a:p>
          <a:p>
            <a:pPr indent="-349250" lvl="0" marL="45720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900"/>
              <a:buChar char="•"/>
            </a:pPr>
            <a:r>
              <a:rPr lang="it" sz="1900"/>
              <a:t>Experimental Setup</a:t>
            </a:r>
            <a:endParaRPr sz="1900"/>
          </a:p>
          <a:p>
            <a:pPr indent="-349250" lvl="0" marL="45720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900"/>
              <a:buChar char="•"/>
            </a:pPr>
            <a:r>
              <a:rPr lang="it" sz="1900"/>
              <a:t>Results</a:t>
            </a:r>
            <a:endParaRPr sz="1900"/>
          </a:p>
          <a:p>
            <a:pPr indent="-349250" lvl="0" marL="45720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900"/>
              <a:buChar char="•"/>
            </a:pPr>
            <a:r>
              <a:rPr lang="it" sz="1900"/>
              <a:t>Conclusions</a:t>
            </a:r>
            <a:endParaRPr sz="1900"/>
          </a:p>
        </p:txBody>
      </p:sp>
      <p:sp>
        <p:nvSpPr>
          <p:cNvPr id="166" name="Google Shape;166;p29"/>
          <p:cNvSpPr txBox="1"/>
          <p:nvPr/>
        </p:nvSpPr>
        <p:spPr>
          <a:xfrm>
            <a:off x="1954212" y="472678"/>
            <a:ext cx="1841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7" name="Google Shape;167;p29" title="Unknow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50000" y="1111349"/>
            <a:ext cx="4941750" cy="27256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0"/>
          <p:cNvSpPr txBox="1"/>
          <p:nvPr>
            <p:ph type="title"/>
          </p:nvPr>
        </p:nvSpPr>
        <p:spPr>
          <a:xfrm>
            <a:off x="1116012" y="307181"/>
            <a:ext cx="7559675" cy="435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None/>
            </a:pPr>
            <a:r>
              <a:rPr lang="it"/>
              <a:t>Problem Statement</a:t>
            </a:r>
            <a:endParaRPr/>
          </a:p>
        </p:txBody>
      </p:sp>
      <p:sp>
        <p:nvSpPr>
          <p:cNvPr id="173" name="Google Shape;173;p30"/>
          <p:cNvSpPr txBox="1"/>
          <p:nvPr/>
        </p:nvSpPr>
        <p:spPr>
          <a:xfrm>
            <a:off x="112600" y="1001700"/>
            <a:ext cx="3851400" cy="37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it" sz="2000"/>
              <a:t>Challenges:</a:t>
            </a:r>
            <a:endParaRPr sz="20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2000"/>
          </a:p>
          <a:p>
            <a:pPr indent="-193675" lvl="0" marL="187325" rtl="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"/>
              <a:buChar char="•"/>
            </a:pPr>
            <a:r>
              <a:rPr lang="it" sz="1700"/>
              <a:t>Instability</a:t>
            </a:r>
            <a:endParaRPr sz="1700"/>
          </a:p>
          <a:p>
            <a:pPr indent="0" lvl="0" marL="457200" rtl="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None/>
            </a:pPr>
            <a:r>
              <a:rPr lang="it"/>
              <a:t>GANs are prone to “Mode Collapse” and vanishing gradients</a:t>
            </a:r>
            <a:endParaRPr sz="1600"/>
          </a:p>
          <a:p>
            <a:pPr indent="-193675" lvl="0" marL="187325" rtl="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it" sz="1700"/>
              <a:t>Data Scarcity</a:t>
            </a:r>
            <a:endParaRPr sz="1700"/>
          </a:p>
          <a:p>
            <a:pPr indent="0" lvl="0" marL="457200" rtl="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None/>
            </a:pPr>
            <a:r>
              <a:rPr lang="it"/>
              <a:t>Training GANs typically requires over 50,000 images; using smaller datasets (e.g., 20%) can lead to overfitting</a:t>
            </a:r>
            <a:r>
              <a:rPr lang="it" sz="1200"/>
              <a:t>.</a:t>
            </a:r>
            <a:endParaRPr sz="1200"/>
          </a:p>
          <a:p>
            <a:pPr indent="0" lvl="0" marL="457200" rtl="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174" name="Google Shape;174;p30"/>
          <p:cNvSpPr txBox="1"/>
          <p:nvPr/>
        </p:nvSpPr>
        <p:spPr>
          <a:xfrm>
            <a:off x="65532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it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Pagina </a:t>
            </a:r>
            <a:fld id="{00000000-1234-1234-1234-123412341234}" type="slidenum">
              <a:rPr b="0" i="0" lang="it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r>
              <a:rPr b="0" i="0" lang="it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/1</a:t>
            </a:r>
            <a:r>
              <a:rPr lang="it" sz="1100">
                <a:solidFill>
                  <a:schemeClr val="lt1"/>
                </a:solidFill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30"/>
          <p:cNvSpPr txBox="1"/>
          <p:nvPr/>
        </p:nvSpPr>
        <p:spPr>
          <a:xfrm>
            <a:off x="1219200" y="4611281"/>
            <a:ext cx="3670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" sz="1500">
                <a:solidFill>
                  <a:schemeClr val="lt1"/>
                </a:solidFill>
              </a:rPr>
              <a:t>Computer Vision</a:t>
            </a:r>
            <a:endParaRPr b="0" i="0" sz="15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6" name="Google Shape;176;p30" title="Unknown-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64000" y="1285810"/>
            <a:ext cx="5044974" cy="278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1"/>
          <p:cNvSpPr txBox="1"/>
          <p:nvPr/>
        </p:nvSpPr>
        <p:spPr>
          <a:xfrm>
            <a:off x="65532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b="0" i="0" lang="it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Pagina </a:t>
            </a:r>
            <a:fld id="{00000000-1234-1234-1234-123412341234}" type="slidenum">
              <a:rPr b="0" i="0" lang="it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r>
              <a:rPr b="0" i="0" lang="it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/1</a:t>
            </a:r>
            <a:r>
              <a:rPr lang="it" sz="1100">
                <a:solidFill>
                  <a:schemeClr val="lt1"/>
                </a:solidFill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31"/>
          <p:cNvSpPr txBox="1"/>
          <p:nvPr>
            <p:ph type="title"/>
          </p:nvPr>
        </p:nvSpPr>
        <p:spPr>
          <a:xfrm>
            <a:off x="1116012" y="307181"/>
            <a:ext cx="7416900" cy="4358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22433"/>
              </a:buClr>
              <a:buSzPts val="2400"/>
              <a:buFont typeface="Arial"/>
              <a:buNone/>
            </a:pPr>
            <a:r>
              <a:rPr lang="it"/>
              <a:t>State of the art</a:t>
            </a:r>
            <a:endParaRPr/>
          </a:p>
        </p:txBody>
      </p:sp>
      <p:sp>
        <p:nvSpPr>
          <p:cNvPr id="184" name="Google Shape;184;p31"/>
          <p:cNvSpPr/>
          <p:nvPr/>
        </p:nvSpPr>
        <p:spPr>
          <a:xfrm>
            <a:off x="1116000" y="1109249"/>
            <a:ext cx="7416900" cy="33294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SzPts val="1400"/>
              <a:buChar char="●"/>
            </a:pPr>
            <a:r>
              <a:rPr b="1" lang="it" sz="2000"/>
              <a:t>Instability:</a:t>
            </a:r>
            <a:r>
              <a:rPr lang="it" sz="2500"/>
              <a:t> </a:t>
            </a:r>
            <a:r>
              <a:rPr lang="it" sz="1600"/>
              <a:t>R1 Gradient Penalty - Penalizes the Discriminator only</a:t>
            </a:r>
            <a:endParaRPr sz="1600"/>
          </a:p>
          <a:p>
            <a:pPr indent="0" lvl="0" marL="914400" rtl="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None/>
            </a:pPr>
            <a:r>
              <a:rPr lang="it" sz="1600"/>
              <a:t>when gradients become unsafe, ensuring convergence without limiting the model's capacity.</a:t>
            </a:r>
            <a:endParaRPr sz="1600"/>
          </a:p>
          <a:p>
            <a:pPr indent="0" lvl="0" marL="0" rtl="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-317500" lvl="0" marL="457200" rtl="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SzPts val="1400"/>
              <a:buChar char="●"/>
            </a:pPr>
            <a:r>
              <a:rPr b="1" lang="it" sz="2000"/>
              <a:t>Data Efficiency:</a:t>
            </a:r>
            <a:r>
              <a:rPr lang="it" sz="2000"/>
              <a:t> </a:t>
            </a:r>
            <a:r>
              <a:rPr lang="it" sz="1600"/>
              <a:t>DiffAugment - Applies differentiable transformations</a:t>
            </a:r>
            <a:endParaRPr sz="1600"/>
          </a:p>
          <a:p>
            <a:pPr indent="0" lvl="0" marL="914400" rtl="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None/>
            </a:pPr>
            <a:r>
              <a:rPr lang="it" sz="1600"/>
              <a:t>(color, translation, cutout) to </a:t>
            </a:r>
            <a:r>
              <a:rPr lang="it" sz="1600"/>
              <a:t>both </a:t>
            </a:r>
            <a:r>
              <a:rPr lang="it" sz="1600"/>
              <a:t>Real and Fake images. This allows gradients to flow back through the augmentation to the Generator.</a:t>
            </a:r>
            <a:endParaRPr sz="1600"/>
          </a:p>
        </p:txBody>
      </p:sp>
      <p:sp>
        <p:nvSpPr>
          <p:cNvPr id="185" name="Google Shape;185;p31"/>
          <p:cNvSpPr txBox="1"/>
          <p:nvPr/>
        </p:nvSpPr>
        <p:spPr>
          <a:xfrm>
            <a:off x="1219200" y="4611281"/>
            <a:ext cx="3670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" sz="1500">
                <a:solidFill>
                  <a:schemeClr val="lt1"/>
                </a:solidFill>
              </a:rPr>
              <a:t>Computer Vision</a:t>
            </a:r>
            <a:endParaRPr b="0" i="0" sz="15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65532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it"/>
              <a:t>Pagina </a:t>
            </a:r>
            <a:fld id="{00000000-1234-1234-1234-123412341234}" type="slidenum">
              <a:rPr lang="it"/>
              <a:t>‹#›</a:t>
            </a:fld>
            <a:r>
              <a:rPr lang="it"/>
              <a:t>/10</a:t>
            </a:r>
            <a:endParaRPr/>
          </a:p>
        </p:txBody>
      </p:sp>
      <p:sp>
        <p:nvSpPr>
          <p:cNvPr id="191" name="Google Shape;191;p32"/>
          <p:cNvSpPr txBox="1"/>
          <p:nvPr>
            <p:ph type="title"/>
          </p:nvPr>
        </p:nvSpPr>
        <p:spPr>
          <a:xfrm>
            <a:off x="1116013" y="307181"/>
            <a:ext cx="7559675" cy="435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it"/>
              <a:t>Project Pipeline &amp; Methodology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2" name="Google Shape;192;p32"/>
          <p:cNvSpPr txBox="1"/>
          <p:nvPr/>
        </p:nvSpPr>
        <p:spPr>
          <a:xfrm>
            <a:off x="1219200" y="4611281"/>
            <a:ext cx="3670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" sz="1500">
                <a:solidFill>
                  <a:schemeClr val="lt1"/>
                </a:solidFill>
              </a:rPr>
              <a:t>Computer Vision</a:t>
            </a:r>
            <a:endParaRPr sz="15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sz="1500">
              <a:solidFill>
                <a:schemeClr val="lt1"/>
              </a:solidFill>
            </a:endParaRPr>
          </a:p>
        </p:txBody>
      </p:sp>
      <p:sp>
        <p:nvSpPr>
          <p:cNvPr id="193" name="Google Shape;193;p32"/>
          <p:cNvSpPr txBox="1"/>
          <p:nvPr/>
        </p:nvSpPr>
        <p:spPr>
          <a:xfrm>
            <a:off x="1116025" y="878375"/>
            <a:ext cx="7299000" cy="3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it" sz="1300"/>
              <a:t>1. R1 Regularization</a:t>
            </a:r>
            <a:endParaRPr b="1" sz="1300"/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300"/>
              <a:buChar char="●"/>
            </a:pPr>
            <a:r>
              <a:rPr b="1" lang="it" sz="1300"/>
              <a:t>Changes from Standard DCGAN:</a:t>
            </a:r>
            <a:r>
              <a:rPr lang="it" sz="1300"/>
              <a:t> Removed Batch Normalization; added the R! gradient penalty.</a:t>
            </a:r>
            <a:endParaRPr sz="1300"/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lang="it" sz="1300"/>
              <a:t>Result:</a:t>
            </a:r>
            <a:r>
              <a:rPr lang="it" sz="1300"/>
              <a:t> Solved numerical instability and vanishing gradients.</a:t>
            </a:r>
            <a:endParaRPr sz="13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it" sz="1300"/>
              <a:t>2. Data Efficiency: DiffAugment</a:t>
            </a:r>
            <a:endParaRPr b="1" sz="1300"/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300"/>
              <a:buChar char="●"/>
            </a:pPr>
            <a:r>
              <a:rPr lang="it" sz="1300"/>
              <a:t>Applied Differentiable Augmentation to </a:t>
            </a:r>
            <a:r>
              <a:rPr b="1" lang="it" sz="1300"/>
              <a:t>Real &amp; Fake</a:t>
            </a:r>
            <a:r>
              <a:rPr lang="it" sz="1300"/>
              <a:t> batches.</a:t>
            </a:r>
            <a:endParaRPr sz="1300"/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lang="it" sz="1300"/>
              <a:t>Result:</a:t>
            </a:r>
            <a:r>
              <a:rPr lang="it" sz="1300"/>
              <a:t> Forces learning of semantic features instead of pixel memorization.</a:t>
            </a:r>
            <a:endParaRPr sz="13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it" sz="1300"/>
              <a:t>3. Proposed Novelty: Adaptive Label Smoothing (ALS)</a:t>
            </a:r>
            <a:endParaRPr b="1" sz="1300"/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300"/>
              <a:buChar char="●"/>
            </a:pPr>
            <a:r>
              <a:rPr lang="it" sz="1300"/>
              <a:t> Linear Feedback Controller based on Discriminator confidence (D(x)).</a:t>
            </a:r>
            <a:endParaRPr sz="1300"/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</a:pPr>
            <a:r>
              <a:rPr i="1" lang="it" sz="1300"/>
              <a:t>Unsure (D≈0.5):</a:t>
            </a:r>
            <a:r>
              <a:rPr lang="it" sz="1300"/>
              <a:t> Target = </a:t>
            </a:r>
            <a:r>
              <a:rPr b="1" lang="it" sz="1300"/>
              <a:t>1.0</a:t>
            </a:r>
            <a:r>
              <a:rPr lang="it" sz="1300"/>
              <a:t> (Maximize Learning).</a:t>
            </a:r>
            <a:endParaRPr sz="13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i="1" lang="it" sz="1100"/>
              <a:t>Overfitting (D→1.0):</a:t>
            </a:r>
            <a:r>
              <a:rPr lang="it" sz="1100"/>
              <a:t> Target → </a:t>
            </a:r>
            <a:r>
              <a:rPr b="1" lang="it" sz="1100"/>
              <a:t>0.8</a:t>
            </a:r>
            <a:r>
              <a:rPr lang="it" sz="1100"/>
              <a:t> (Apply Penalty).</a:t>
            </a:r>
            <a:endParaRPr b="1" sz="17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3"/>
          <p:cNvSpPr txBox="1"/>
          <p:nvPr>
            <p:ph idx="12" type="sldNum"/>
          </p:nvPr>
        </p:nvSpPr>
        <p:spPr>
          <a:xfrm>
            <a:off x="6553200" y="461129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it"/>
              <a:t>Pagina </a:t>
            </a:r>
            <a:fld id="{00000000-1234-1234-1234-123412341234}" type="slidenum">
              <a:rPr lang="it"/>
              <a:t>‹#›</a:t>
            </a:fld>
            <a:r>
              <a:rPr lang="it"/>
              <a:t>/10</a:t>
            </a:r>
            <a:endParaRPr/>
          </a:p>
        </p:txBody>
      </p:sp>
      <p:sp>
        <p:nvSpPr>
          <p:cNvPr id="200" name="Google Shape;200;p33"/>
          <p:cNvSpPr txBox="1"/>
          <p:nvPr>
            <p:ph type="title"/>
          </p:nvPr>
        </p:nvSpPr>
        <p:spPr>
          <a:xfrm>
            <a:off x="1116013" y="307181"/>
            <a:ext cx="7559675" cy="435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it"/>
              <a:t>Dataset</a:t>
            </a:r>
            <a:endParaRPr/>
          </a:p>
        </p:txBody>
      </p:sp>
      <p:sp>
        <p:nvSpPr>
          <p:cNvPr id="201" name="Google Shape;201;p33"/>
          <p:cNvSpPr txBox="1"/>
          <p:nvPr/>
        </p:nvSpPr>
        <p:spPr>
          <a:xfrm>
            <a:off x="909475" y="834351"/>
            <a:ext cx="7035000" cy="162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900"/>
              <a:t>CIFAR-10</a:t>
            </a:r>
            <a:endParaRPr sz="1900"/>
          </a:p>
          <a:p>
            <a:pPr indent="-3492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b="1" lang="it" sz="1900"/>
              <a:t>Full Training:</a:t>
            </a:r>
            <a:r>
              <a:rPr lang="it" sz="1900"/>
              <a:t> 50,000 images.</a:t>
            </a:r>
            <a:endParaRPr sz="1900"/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b="1" lang="it" sz="1900"/>
              <a:t>Limited Training:</a:t>
            </a:r>
            <a:r>
              <a:rPr lang="it" sz="1900"/>
              <a:t> 10,000 images (Random 20% subset).</a:t>
            </a:r>
            <a:endParaRPr sz="1900"/>
          </a:p>
          <a:p>
            <a:pPr indent="0" lvl="0" marL="0" marR="0" rtl="0" algn="just">
              <a:lnSpc>
                <a:spcPct val="107142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02" name="Google Shape;202;p33"/>
          <p:cNvSpPr txBox="1"/>
          <p:nvPr/>
        </p:nvSpPr>
        <p:spPr>
          <a:xfrm>
            <a:off x="1219200" y="4611281"/>
            <a:ext cx="3670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" sz="1500">
                <a:solidFill>
                  <a:schemeClr val="lt1"/>
                </a:solidFill>
              </a:rPr>
              <a:t>Computer Vision</a:t>
            </a:r>
            <a:endParaRPr sz="15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sz="1500">
              <a:solidFill>
                <a:schemeClr val="lt1"/>
              </a:solidFill>
            </a:endParaRPr>
          </a:p>
        </p:txBody>
      </p:sp>
      <p:pic>
        <p:nvPicPr>
          <p:cNvPr id="203" name="Google Shape;203;p33" title="Unknown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14488" y="2172100"/>
            <a:ext cx="4515025" cy="2320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4"/>
          <p:cNvSpPr txBox="1"/>
          <p:nvPr>
            <p:ph type="title"/>
          </p:nvPr>
        </p:nvSpPr>
        <p:spPr>
          <a:xfrm>
            <a:off x="413249" y="307181"/>
            <a:ext cx="8262600" cy="435825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Experimental Setup</a:t>
            </a:r>
            <a:endParaRPr/>
          </a:p>
        </p:txBody>
      </p:sp>
      <p:sp>
        <p:nvSpPr>
          <p:cNvPr id="210" name="Google Shape;210;p34"/>
          <p:cNvSpPr txBox="1"/>
          <p:nvPr>
            <p:ph idx="12" type="sldNum"/>
          </p:nvPr>
        </p:nvSpPr>
        <p:spPr>
          <a:xfrm>
            <a:off x="6553200" y="4611290"/>
            <a:ext cx="1905000" cy="3429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it"/>
              <a:t>Pagina </a:t>
            </a:r>
            <a:fld id="{00000000-1234-1234-1234-123412341234}" type="slidenum">
              <a:rPr lang="it"/>
              <a:t>‹#›</a:t>
            </a:fld>
            <a:r>
              <a:rPr lang="it"/>
              <a:t>/10</a:t>
            </a:r>
            <a:endParaRPr/>
          </a:p>
        </p:txBody>
      </p:sp>
      <p:sp>
        <p:nvSpPr>
          <p:cNvPr id="211" name="Google Shape;211;p34"/>
          <p:cNvSpPr txBox="1"/>
          <p:nvPr/>
        </p:nvSpPr>
        <p:spPr>
          <a:xfrm>
            <a:off x="1219200" y="4611281"/>
            <a:ext cx="3670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" sz="1500">
                <a:solidFill>
                  <a:schemeClr val="lt1"/>
                </a:solidFill>
              </a:rPr>
              <a:t>Computer Vision</a:t>
            </a:r>
            <a:endParaRPr sz="15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sz="1500">
              <a:solidFill>
                <a:schemeClr val="lt1"/>
              </a:solidFill>
            </a:endParaRPr>
          </a:p>
        </p:txBody>
      </p:sp>
      <p:sp>
        <p:nvSpPr>
          <p:cNvPr id="212" name="Google Shape;212;p34"/>
          <p:cNvSpPr txBox="1"/>
          <p:nvPr/>
        </p:nvSpPr>
        <p:spPr>
          <a:xfrm>
            <a:off x="659575" y="743000"/>
            <a:ext cx="8016300" cy="38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it"/>
              <a:t>1. Optimization Configuration</a:t>
            </a:r>
            <a:endParaRPr b="1"/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b="1" lang="it"/>
              <a:t>Baseline (Radford et al.):</a:t>
            </a:r>
            <a:r>
              <a:rPr lang="it"/>
              <a:t> Adam Optimizer (α=0.0002, </a:t>
            </a:r>
            <a:r>
              <a:rPr b="1" lang="it"/>
              <a:t>β1​=0.5</a:t>
            </a:r>
            <a:r>
              <a:rPr lang="it"/>
              <a:t>, β2​=0.999).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it"/>
              <a:t>Modernized &amp; Limited Models:</a:t>
            </a:r>
            <a:r>
              <a:rPr lang="it"/>
              <a:t> Adam Optimizer (α=0.0002, </a:t>
            </a:r>
            <a:r>
              <a:rPr b="1" lang="it"/>
              <a:t>β1​=0.0</a:t>
            </a:r>
            <a:r>
              <a:rPr lang="it"/>
              <a:t>, β2​=0.99).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i="1" lang="it"/>
              <a:t>Reason:</a:t>
            </a:r>
            <a:r>
              <a:rPr lang="it"/>
              <a:t> Reducing β1​ to 0.0 is a modern best practice (StyleGAN) to prevent oscillation.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it"/>
              <a:t>2. Training Duration</a:t>
            </a:r>
            <a:endParaRPr b="1"/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b="1" lang="it"/>
              <a:t>Full Data:</a:t>
            </a:r>
            <a:r>
              <a:rPr lang="it"/>
              <a:t> 50 Epochs × 50k images = </a:t>
            </a:r>
            <a:r>
              <a:rPr b="1" lang="it"/>
              <a:t>2.5M Images Processed</a:t>
            </a:r>
            <a:r>
              <a:rPr lang="it"/>
              <a:t>.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it"/>
              <a:t>Limited Data (20%):</a:t>
            </a:r>
            <a:r>
              <a:rPr lang="it"/>
              <a:t> </a:t>
            </a:r>
            <a:r>
              <a:rPr b="1" lang="it"/>
              <a:t>250 Epochs</a:t>
            </a:r>
            <a:r>
              <a:rPr lang="it"/>
              <a:t> × 10k images = </a:t>
            </a:r>
            <a:r>
              <a:rPr b="1" lang="it"/>
              <a:t>2.5M Images Processed</a:t>
            </a:r>
            <a:r>
              <a:rPr lang="it"/>
              <a:t>.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it"/>
              <a:t>Rationale:</a:t>
            </a:r>
            <a:r>
              <a:rPr lang="it"/>
              <a:t> Matched the </a:t>
            </a:r>
            <a:r>
              <a:rPr b="1" lang="it"/>
              <a:t>Total Images Seen</a:t>
            </a:r>
            <a:r>
              <a:rPr lang="it"/>
              <a:t> (computational budget) across all experiments to ensure a scientifically fair comparison.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it"/>
              <a:t>3. Evaluation Metric</a:t>
            </a:r>
            <a:endParaRPr b="1"/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b="1" lang="it"/>
              <a:t>Fréchet Inception Distance (FID):</a:t>
            </a:r>
            <a:r>
              <a:rPr lang="it"/>
              <a:t> Measures the distance between feature distributions of real and generated images. 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5"/>
          <p:cNvSpPr txBox="1"/>
          <p:nvPr>
            <p:ph type="title"/>
          </p:nvPr>
        </p:nvSpPr>
        <p:spPr>
          <a:xfrm>
            <a:off x="1116012" y="307181"/>
            <a:ext cx="7559700" cy="435825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Model Evaluation</a:t>
            </a:r>
            <a:endParaRPr/>
          </a:p>
        </p:txBody>
      </p:sp>
      <p:sp>
        <p:nvSpPr>
          <p:cNvPr id="219" name="Google Shape;219;p35"/>
          <p:cNvSpPr txBox="1"/>
          <p:nvPr>
            <p:ph idx="12" type="sldNum"/>
          </p:nvPr>
        </p:nvSpPr>
        <p:spPr>
          <a:xfrm>
            <a:off x="6553200" y="4611290"/>
            <a:ext cx="1905000" cy="3429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it"/>
              <a:t>Pagina </a:t>
            </a:r>
            <a:fld id="{00000000-1234-1234-1234-123412341234}" type="slidenum">
              <a:rPr lang="it"/>
              <a:t>‹#›</a:t>
            </a:fld>
            <a:r>
              <a:rPr lang="it"/>
              <a:t>/10</a:t>
            </a:r>
            <a:endParaRPr/>
          </a:p>
        </p:txBody>
      </p:sp>
      <p:sp>
        <p:nvSpPr>
          <p:cNvPr id="220" name="Google Shape;220;p35"/>
          <p:cNvSpPr txBox="1"/>
          <p:nvPr/>
        </p:nvSpPr>
        <p:spPr>
          <a:xfrm>
            <a:off x="1219200" y="4611281"/>
            <a:ext cx="3670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" sz="1500">
                <a:solidFill>
                  <a:schemeClr val="lt1"/>
                </a:solidFill>
              </a:rPr>
              <a:t>Computer Vision</a:t>
            </a:r>
            <a:endParaRPr sz="15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sz="1500">
              <a:solidFill>
                <a:schemeClr val="lt1"/>
              </a:solidFill>
            </a:endParaRPr>
          </a:p>
        </p:txBody>
      </p:sp>
      <p:pic>
        <p:nvPicPr>
          <p:cNvPr id="221" name="Google Shape;221;p35" title="unname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02425" y="895394"/>
            <a:ext cx="5939140" cy="35634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6"/>
          <p:cNvSpPr txBox="1"/>
          <p:nvPr>
            <p:ph type="title"/>
          </p:nvPr>
        </p:nvSpPr>
        <p:spPr>
          <a:xfrm>
            <a:off x="1116012" y="307181"/>
            <a:ext cx="7559700" cy="435825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Conclusions</a:t>
            </a:r>
            <a:endParaRPr/>
          </a:p>
        </p:txBody>
      </p:sp>
      <p:sp>
        <p:nvSpPr>
          <p:cNvPr id="228" name="Google Shape;228;p36"/>
          <p:cNvSpPr txBox="1"/>
          <p:nvPr>
            <p:ph idx="12" type="sldNum"/>
          </p:nvPr>
        </p:nvSpPr>
        <p:spPr>
          <a:xfrm>
            <a:off x="6553200" y="4611290"/>
            <a:ext cx="1905000" cy="3429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it"/>
              <a:t>Pagina </a:t>
            </a:r>
            <a:fld id="{00000000-1234-1234-1234-123412341234}" type="slidenum">
              <a:rPr lang="it"/>
              <a:t>‹#›</a:t>
            </a:fld>
            <a:r>
              <a:rPr lang="it"/>
              <a:t>/10</a:t>
            </a:r>
            <a:endParaRPr/>
          </a:p>
        </p:txBody>
      </p:sp>
      <p:sp>
        <p:nvSpPr>
          <p:cNvPr id="229" name="Google Shape;229;p36"/>
          <p:cNvSpPr txBox="1"/>
          <p:nvPr/>
        </p:nvSpPr>
        <p:spPr>
          <a:xfrm>
            <a:off x="1219200" y="4611281"/>
            <a:ext cx="3670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" sz="1500">
                <a:solidFill>
                  <a:schemeClr val="lt1"/>
                </a:solidFill>
              </a:rPr>
              <a:t>Computer Vision</a:t>
            </a:r>
            <a:endParaRPr sz="15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sz="1500">
              <a:solidFill>
                <a:schemeClr val="lt1"/>
              </a:solidFill>
            </a:endParaRPr>
          </a:p>
        </p:txBody>
      </p:sp>
      <p:sp>
        <p:nvSpPr>
          <p:cNvPr id="230" name="Google Shape;230;p36"/>
          <p:cNvSpPr txBox="1"/>
          <p:nvPr/>
        </p:nvSpPr>
        <p:spPr>
          <a:xfrm>
            <a:off x="1061875" y="1071725"/>
            <a:ext cx="7315200" cy="26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b="1" lang="it" sz="1800"/>
              <a:t>Stability:</a:t>
            </a:r>
            <a:r>
              <a:rPr lang="it" sz="1800"/>
              <a:t> Modern techniques (R1) are essential for DCGAN.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it" sz="1800"/>
              <a:t>Efficiency:</a:t>
            </a:r>
            <a:r>
              <a:rPr lang="it" sz="1800"/>
              <a:t> DiffAugment is the key enabler for limited data.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it" sz="1800"/>
              <a:t>Novelty:</a:t>
            </a:r>
            <a:r>
              <a:rPr lang="it" sz="1800"/>
              <a:t> </a:t>
            </a:r>
            <a:r>
              <a:rPr b="1" lang="it" sz="1800"/>
              <a:t>Adaptive Label Smoothing outperforms R1</a:t>
            </a:r>
            <a:r>
              <a:rPr lang="it" sz="1800"/>
              <a:t> in data-scarce regimes (+23% improvement in FID).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it" sz="1800"/>
              <a:t>Future Work:</a:t>
            </a:r>
            <a:r>
              <a:rPr lang="it" sz="1800"/>
              <a:t> Combine ALS with stronger architectures like ResNet (StyleGAN).</a:t>
            </a:r>
            <a:endParaRPr sz="18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792162" y="273564"/>
            <a:ext cx="7559700" cy="435825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it"/>
              <a:t>References</a:t>
            </a:r>
            <a:endParaRPr/>
          </a:p>
        </p:txBody>
      </p:sp>
      <p:sp>
        <p:nvSpPr>
          <p:cNvPr id="237" name="Google Shape;237;p37"/>
          <p:cNvSpPr txBox="1"/>
          <p:nvPr>
            <p:ph idx="12" type="sldNum"/>
          </p:nvPr>
        </p:nvSpPr>
        <p:spPr>
          <a:xfrm>
            <a:off x="6553200" y="4611290"/>
            <a:ext cx="1905000" cy="3429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it"/>
              <a:t>Pagina </a:t>
            </a:r>
            <a:fld id="{00000000-1234-1234-1234-123412341234}" type="slidenum">
              <a:rPr lang="it"/>
              <a:t>‹#›</a:t>
            </a:fld>
            <a:r>
              <a:rPr lang="it"/>
              <a:t>/10</a:t>
            </a:r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38" name="Google Shape;238;p37"/>
          <p:cNvSpPr txBox="1"/>
          <p:nvPr/>
        </p:nvSpPr>
        <p:spPr>
          <a:xfrm>
            <a:off x="1163175" y="664227"/>
            <a:ext cx="6942300" cy="42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b="1" lang="it" sz="1600"/>
              <a:t>Radford, A., Metz, L., &amp; Chintala, S.</a:t>
            </a:r>
            <a:r>
              <a:rPr lang="it" sz="1600"/>
              <a:t> </a:t>
            </a:r>
            <a:r>
              <a:rPr i="1" lang="it" sz="1600"/>
              <a:t>Unsupervised Representation Learning with Deep Convolutional Generative Adversarial Networks</a:t>
            </a:r>
            <a:r>
              <a:rPr lang="it" sz="1600"/>
              <a:t> (2015).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it" sz="1600"/>
              <a:t>Mescheder, L., Geiger, A., &amp; Nowozin, S.</a:t>
            </a:r>
            <a:r>
              <a:rPr lang="it" sz="1600"/>
              <a:t> </a:t>
            </a:r>
            <a:r>
              <a:rPr i="1" lang="it" sz="1600"/>
              <a:t>Which Training Methods for GANs do actually Converge?</a:t>
            </a:r>
            <a:r>
              <a:rPr lang="it" sz="1600"/>
              <a:t> (ICML 2018).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it" sz="1600"/>
              <a:t>Zhao, S., Liu, Z., Lin, J., Zhu, J.Y., &amp; Han, S.</a:t>
            </a:r>
            <a:r>
              <a:rPr lang="it" sz="1600"/>
              <a:t> </a:t>
            </a:r>
            <a:r>
              <a:rPr i="1" lang="it" sz="1600"/>
              <a:t>Differentiable Augmentation for Data-Efficient GAN Training</a:t>
            </a:r>
            <a:r>
              <a:rPr lang="it" sz="1600"/>
              <a:t>(NeurIPS 2020).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it" sz="1600"/>
              <a:t>Karras, T., Aittala, M., Hellsten, J., Laine, S., Lehtinen, J., &amp; Aila, T.</a:t>
            </a:r>
            <a:r>
              <a:rPr lang="it" sz="1600"/>
              <a:t> </a:t>
            </a:r>
            <a:r>
              <a:rPr i="1" lang="it" sz="1600"/>
              <a:t>Training Generative Adversarial Networks with Limited Data</a:t>
            </a:r>
            <a:r>
              <a:rPr lang="it" sz="1600"/>
              <a:t> (NeurIPS 2020).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it" sz="1600"/>
              <a:t>Arjovsky, M., &amp; Bottou, L.</a:t>
            </a:r>
            <a:r>
              <a:rPr lang="it" sz="1600"/>
              <a:t> </a:t>
            </a:r>
            <a:r>
              <a:rPr i="1" lang="it" sz="1600"/>
              <a:t>Towards Principled Methods for Training Generative Adversarial Networks</a:t>
            </a:r>
            <a:r>
              <a:rPr lang="it" sz="1600"/>
              <a:t> (ICLR 2017).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it" sz="1600"/>
              <a:t>Goodfellow, I., et al.</a:t>
            </a:r>
            <a:r>
              <a:rPr lang="it" sz="1600"/>
              <a:t> </a:t>
            </a:r>
            <a:r>
              <a:rPr i="1" lang="it" sz="1600"/>
              <a:t>Generative Adversarial Nets</a:t>
            </a:r>
            <a:r>
              <a:rPr lang="it" sz="1600"/>
              <a:t> (NIPS 2014).</a:t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i="1" sz="1600"/>
          </a:p>
        </p:txBody>
      </p:sp>
      <p:sp>
        <p:nvSpPr>
          <p:cNvPr id="239" name="Google Shape;239;p37"/>
          <p:cNvSpPr txBox="1"/>
          <p:nvPr/>
        </p:nvSpPr>
        <p:spPr>
          <a:xfrm>
            <a:off x="1219200" y="4611281"/>
            <a:ext cx="3670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" sz="1500">
                <a:solidFill>
                  <a:schemeClr val="lt1"/>
                </a:solidFill>
              </a:rPr>
              <a:t>Computer Vision</a:t>
            </a:r>
            <a:endParaRPr sz="15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sz="1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a sapienza">
  <a:themeElements>
    <a:clrScheme name="">
      <a:dk1>
        <a:srgbClr val="822433"/>
      </a:dk1>
      <a:lt1>
        <a:srgbClr val="FFFFFF"/>
      </a:lt1>
      <a:dk2>
        <a:srgbClr val="822433"/>
      </a:dk2>
      <a:lt2>
        <a:srgbClr val="808080"/>
      </a:lt2>
      <a:accent1>
        <a:srgbClr val="BBE0E3"/>
      </a:accent1>
      <a:accent2>
        <a:srgbClr val="FFFF00"/>
      </a:accent2>
      <a:accent3>
        <a:srgbClr val="FFFFFF"/>
      </a:accent3>
      <a:accent4>
        <a:srgbClr val="6E1D2A"/>
      </a:accent4>
      <a:accent5>
        <a:srgbClr val="DAEDEF"/>
      </a:accent5>
      <a:accent6>
        <a:srgbClr val="E7E700"/>
      </a:accent6>
      <a:hlink>
        <a:srgbClr val="0000FF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