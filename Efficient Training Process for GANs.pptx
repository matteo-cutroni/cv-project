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Quattrocento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684a3994_2_9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b9684a3994_2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b9684a3994_2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9684a3994_2_10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9684a3994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b9684a3994_2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9684a3994_2_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b9684a3994_2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9684a3994_2_1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9684a3994_2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b9684a3994_2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9684a3994_2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b9684a3994_2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9684a3994_2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g3b9684a3994_2_1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b9684a3994_2_14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684a3994_2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9684a3994_2_1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9684a3994_2_15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9684a3994_2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9684a3994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9684a3994_2_16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684a3994_2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9684a3994_2_1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b9684a3994_2_18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9684a3994_2_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9684a3994_2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9684a3994_2_18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testo e contenuto" type="txAndObj">
  <p:cSld name="TEXT_AND_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116013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116013" y="1314450"/>
            <a:ext cx="3703637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972050" y="1314450"/>
            <a:ext cx="370363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116012" y="1314450"/>
            <a:ext cx="7559675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abella" type="tbl">
  <p:cSld name="TAB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116013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grafico" type="chart">
  <p:cSld name="CHAR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116013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/>
          <p:nvPr>
            <p:ph idx="2" type="chart"/>
          </p:nvPr>
        </p:nvSpPr>
        <p:spPr>
          <a:xfrm>
            <a:off x="1116013" y="1314450"/>
            <a:ext cx="7559675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 rot="5400000">
            <a:off x="5684441" y="1409303"/>
            <a:ext cx="4093369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 rot="5400000">
            <a:off x="1828404" y="-405209"/>
            <a:ext cx="4093369" cy="551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 rot="5400000">
            <a:off x="3352799" y="-922337"/>
            <a:ext cx="3086100" cy="75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/>
          <p:nvPr>
            <p:ph idx="2" type="pic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22"/>
          <p:cNvSpPr txBox="1"/>
          <p:nvPr>
            <p:ph idx="2" type="body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630238" y="1260872"/>
            <a:ext cx="386873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630238" y="1878806"/>
            <a:ext cx="3868737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3" type="body"/>
          </p:nvPr>
        </p:nvSpPr>
        <p:spPr>
          <a:xfrm>
            <a:off x="4629150" y="1260872"/>
            <a:ext cx="3887788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5"/>
          <p:cNvSpPr txBox="1"/>
          <p:nvPr>
            <p:ph idx="4" type="body"/>
          </p:nvPr>
        </p:nvSpPr>
        <p:spPr>
          <a:xfrm>
            <a:off x="4629150" y="1878806"/>
            <a:ext cx="3887788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1116013" y="1314450"/>
            <a:ext cx="3703637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4972050" y="1314450"/>
            <a:ext cx="370363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3" name="Google Shape;143;p27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4572000"/>
            <a:ext cx="9144000" cy="571500"/>
            <a:chOff x="0" y="3840"/>
            <a:chExt cx="5760" cy="480"/>
          </a:xfrm>
        </p:grpSpPr>
        <p:sp>
          <p:nvSpPr>
            <p:cNvPr id="52" name="Google Shape;52;p13"/>
            <p:cNvSpPr txBox="1"/>
            <p:nvPr/>
          </p:nvSpPr>
          <p:spPr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3"/>
            <p:cNvSpPr txBox="1"/>
            <p:nvPr/>
          </p:nvSpPr>
          <p:spPr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13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116012" y="1314450"/>
            <a:ext cx="7559675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2243137" y="596503"/>
            <a:ext cx="6138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152" name="Google Shape;152;p28"/>
          <p:cNvGrpSpPr/>
          <p:nvPr/>
        </p:nvGrpSpPr>
        <p:grpSpPr>
          <a:xfrm>
            <a:off x="-9525" y="0"/>
            <a:ext cx="9153525" cy="5143500"/>
            <a:chOff x="-6" y="0"/>
            <a:chExt cx="5766" cy="4320"/>
          </a:xfrm>
        </p:grpSpPr>
        <p:sp>
          <p:nvSpPr>
            <p:cNvPr id="153" name="Google Shape;153;p28"/>
            <p:cNvSpPr txBox="1"/>
            <p:nvPr/>
          </p:nvSpPr>
          <p:spPr>
            <a:xfrm>
              <a:off x="-6" y="0"/>
              <a:ext cx="5760" cy="2160"/>
            </a:xfrm>
            <a:prstGeom prst="rect">
              <a:avLst/>
            </a:prstGeom>
            <a:solidFill>
              <a:srgbClr val="C0CE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728"/>
              <a:ext cx="5760" cy="25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8"/>
          <p:cNvSpPr txBox="1"/>
          <p:nvPr>
            <p:ph type="ctrTitle"/>
          </p:nvPr>
        </p:nvSpPr>
        <p:spPr>
          <a:xfrm>
            <a:off x="2098675" y="775097"/>
            <a:ext cx="6427787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800"/>
              <a:buFont typeface="Arial"/>
              <a:buNone/>
            </a:pPr>
            <a:r>
              <a:rPr lang="it" sz="2800"/>
              <a:t>Efficient Training Process for GANs</a:t>
            </a:r>
            <a:endParaRPr sz="2800"/>
          </a:p>
        </p:txBody>
      </p:sp>
      <p:sp>
        <p:nvSpPr>
          <p:cNvPr id="156" name="Google Shape;156;p28"/>
          <p:cNvSpPr txBox="1"/>
          <p:nvPr/>
        </p:nvSpPr>
        <p:spPr>
          <a:xfrm>
            <a:off x="4643424" y="4019550"/>
            <a:ext cx="443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Authors:</a:t>
            </a:r>
            <a:r>
              <a:rPr b="0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Matteo Cutroni (1918336)</a:t>
            </a:r>
            <a:br>
              <a:rPr b="0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Course:</a:t>
            </a:r>
            <a:r>
              <a:rPr b="0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200">
                <a:solidFill>
                  <a:schemeClr val="lt1"/>
                </a:solidFill>
              </a:rPr>
              <a:t>Computer Vision</a:t>
            </a:r>
            <a:br>
              <a:rPr b="0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Academic Year:</a:t>
            </a:r>
            <a:r>
              <a:rPr b="0" i="0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it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6553200" y="4621123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lang="it" sz="1100">
                <a:solidFill>
                  <a:schemeClr val="lt1"/>
                </a:solidFill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>
            <p:ph type="title"/>
          </p:nvPr>
        </p:nvSpPr>
        <p:spPr>
          <a:xfrm>
            <a:off x="1116012" y="303609"/>
            <a:ext cx="7416800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lang="it"/>
              <a:t>Outline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756450" y="1111350"/>
            <a:ext cx="3141000" cy="29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Problem Statement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State of the art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Proposed Method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Dataset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Experimental Setup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Results</a:t>
            </a:r>
            <a:endParaRPr sz="1900"/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it" sz="1900"/>
              <a:t>Conclusions</a:t>
            </a:r>
            <a:endParaRPr sz="1900"/>
          </a:p>
        </p:txBody>
      </p:sp>
      <p:sp>
        <p:nvSpPr>
          <p:cNvPr id="166" name="Google Shape;166;p29"/>
          <p:cNvSpPr txBox="1"/>
          <p:nvPr/>
        </p:nvSpPr>
        <p:spPr>
          <a:xfrm>
            <a:off x="1954212" y="472678"/>
            <a:ext cx="184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9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0000" y="1111349"/>
            <a:ext cx="4941750" cy="2725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116012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lang="it"/>
              <a:t>Problem Statement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112600" y="1001700"/>
            <a:ext cx="38514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 sz="2000"/>
              <a:t>Challenges: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/>
          </a:p>
          <a:p>
            <a:pPr indent="-193675" lvl="0" marL="187325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"/>
              <a:buChar char="•"/>
            </a:pPr>
            <a:r>
              <a:rPr lang="it" sz="1700"/>
              <a:t>Instability</a:t>
            </a:r>
            <a:endParaRPr sz="1700"/>
          </a:p>
          <a:p>
            <a:pPr indent="0" lvl="0" marL="4572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it"/>
              <a:t>GANs are prone to “Mode Collapse” and vanishing gradients</a:t>
            </a:r>
            <a:endParaRPr sz="1600"/>
          </a:p>
          <a:p>
            <a:pPr indent="-193675" lvl="0" marL="187325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it" sz="1700"/>
              <a:t>Data Scarcity</a:t>
            </a:r>
            <a:endParaRPr sz="1700"/>
          </a:p>
          <a:p>
            <a:pPr indent="0" lvl="0" marL="4572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it"/>
              <a:t>Training GANs typically requires over 50,000 images; using smaller datasets (e.g., 20%) can lead to overfitting</a:t>
            </a:r>
            <a:r>
              <a:rPr lang="it" sz="1200"/>
              <a:t>.</a:t>
            </a:r>
            <a:endParaRPr sz="1200"/>
          </a:p>
          <a:p>
            <a:pPr indent="0" lvl="0" marL="4572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" name="Google Shape;174;p30"/>
          <p:cNvSpPr txBox="1"/>
          <p:nvPr/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lang="it" sz="1100">
                <a:solidFill>
                  <a:schemeClr val="lt1"/>
                </a:solidFill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0" title="Unknown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000" y="1285810"/>
            <a:ext cx="5044974" cy="27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 </a:t>
            </a:r>
            <a:fld id="{00000000-1234-1234-1234-123412341234}" type="slidenum"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lang="it" sz="1100">
                <a:solidFill>
                  <a:schemeClr val="lt1"/>
                </a:solidFill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1116012" y="307181"/>
            <a:ext cx="7416900" cy="43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rPr lang="it"/>
              <a:t>State of the art</a:t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1116000" y="1109249"/>
            <a:ext cx="7416900" cy="332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SzPts val="1400"/>
              <a:buChar char="●"/>
            </a:pPr>
            <a:r>
              <a:rPr b="1" lang="it" sz="2000"/>
              <a:t>Instability:</a:t>
            </a:r>
            <a:r>
              <a:rPr lang="it" sz="2500"/>
              <a:t> </a:t>
            </a:r>
            <a:r>
              <a:rPr lang="it" sz="1600"/>
              <a:t>R1 Gradient Penalty - Penalizes the Discriminator only</a:t>
            </a:r>
            <a:endParaRPr sz="1600"/>
          </a:p>
          <a:p>
            <a:pPr indent="0" lvl="0" marL="9144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it" sz="1600"/>
              <a:t>when gradients become unsafe, ensuring convergence without limiting the model's capacity.</a:t>
            </a:r>
            <a:endParaRPr sz="1600"/>
          </a:p>
          <a:p>
            <a:pPr indent="0" lvl="0" marL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17500" lvl="0" marL="4572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SzPts val="1400"/>
              <a:buChar char="●"/>
            </a:pPr>
            <a:r>
              <a:rPr b="1" lang="it" sz="2000"/>
              <a:t>Data Efficiency:</a:t>
            </a:r>
            <a:r>
              <a:rPr lang="it" sz="2000"/>
              <a:t> </a:t>
            </a:r>
            <a:r>
              <a:rPr lang="it" sz="1600"/>
              <a:t>DiffAugment - Applies differentiable transformations</a:t>
            </a:r>
            <a:endParaRPr sz="1600"/>
          </a:p>
          <a:p>
            <a:pPr indent="0" lvl="0" marL="91440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it" sz="1600"/>
              <a:t>(color, translation, cutout) to </a:t>
            </a:r>
            <a:r>
              <a:rPr lang="it" sz="1600"/>
              <a:t>both </a:t>
            </a:r>
            <a:r>
              <a:rPr lang="it" sz="1600"/>
              <a:t>Real and Fake images. This allows gradients to flow back through the augmentation to the Generator.</a:t>
            </a:r>
            <a:endParaRPr sz="1600"/>
          </a:p>
        </p:txBody>
      </p:sp>
      <p:sp>
        <p:nvSpPr>
          <p:cNvPr id="185" name="Google Shape;185;p31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1116013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Project Pipeline &amp; Methodology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1116025" y="878375"/>
            <a:ext cx="72990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300"/>
              <a:t>1. R1 Regularization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Changes from Standard DCGAN:</a:t>
            </a:r>
            <a:r>
              <a:rPr lang="it" sz="1300"/>
              <a:t> Removed Batch Normalization; added the R1 gradient penalty.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Result:</a:t>
            </a:r>
            <a:r>
              <a:rPr lang="it" sz="1300"/>
              <a:t> Solved numerical instability and vanishing gradients.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300"/>
              <a:t>2. Data Efficiency: DiffAugment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Applied Differentiable Augmentation to </a:t>
            </a:r>
            <a:r>
              <a:rPr b="1" lang="it" sz="1300"/>
              <a:t>Real &amp; Fake</a:t>
            </a:r>
            <a:r>
              <a:rPr lang="it" sz="1300"/>
              <a:t> batches.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Result:</a:t>
            </a:r>
            <a:r>
              <a:rPr lang="it" sz="1300"/>
              <a:t> Forces learning of semantic features instead of pixel memorization.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300"/>
              <a:t>3. Proposed Novelty: Adaptive Label Smoothing (ALS)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 Linear Feedback Controller based on Discriminator confidence (D(x)).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i="1" lang="it" sz="1300"/>
              <a:t>Unsure (D≈0.5):</a:t>
            </a:r>
            <a:r>
              <a:rPr lang="it" sz="1300"/>
              <a:t> Target = </a:t>
            </a:r>
            <a:r>
              <a:rPr b="1" lang="it" sz="1300"/>
              <a:t>1.0</a:t>
            </a:r>
            <a:r>
              <a:rPr lang="it" sz="1300"/>
              <a:t> (Maximize Learning).</a:t>
            </a:r>
            <a:endParaRPr sz="13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it" sz="1100"/>
              <a:t>Overfitting (D→1.0):</a:t>
            </a:r>
            <a:r>
              <a:rPr lang="it" sz="1100"/>
              <a:t> Target → </a:t>
            </a:r>
            <a:r>
              <a:rPr b="1" lang="it" sz="1100"/>
              <a:t>0.8</a:t>
            </a:r>
            <a:r>
              <a:rPr lang="it" sz="1100"/>
              <a:t> (Apply Penalty).</a:t>
            </a:r>
            <a:endParaRPr b="1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</p:txBody>
      </p:sp>
      <p:sp>
        <p:nvSpPr>
          <p:cNvPr id="200" name="Google Shape;200;p33"/>
          <p:cNvSpPr txBox="1"/>
          <p:nvPr>
            <p:ph type="title"/>
          </p:nvPr>
        </p:nvSpPr>
        <p:spPr>
          <a:xfrm>
            <a:off x="1116013" y="307181"/>
            <a:ext cx="75596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Dataset</a:t>
            </a:r>
            <a:endParaRPr/>
          </a:p>
        </p:txBody>
      </p:sp>
      <p:sp>
        <p:nvSpPr>
          <p:cNvPr id="201" name="Google Shape;201;p33"/>
          <p:cNvSpPr txBox="1"/>
          <p:nvPr/>
        </p:nvSpPr>
        <p:spPr>
          <a:xfrm>
            <a:off x="909475" y="834351"/>
            <a:ext cx="70350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900"/>
              <a:t>CIFAR-10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it" sz="1900"/>
              <a:t>Full Training:</a:t>
            </a:r>
            <a:r>
              <a:rPr lang="it" sz="1900"/>
              <a:t> 50,000 images.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it" sz="1900"/>
              <a:t>Limited Training:</a:t>
            </a:r>
            <a:r>
              <a:rPr lang="it" sz="1900"/>
              <a:t> 10,000 images (Random 20% subset).</a:t>
            </a:r>
            <a:endParaRPr sz="1900"/>
          </a:p>
          <a:p>
            <a:pPr indent="0" lvl="0" marL="0" marR="0" rtl="0" algn="just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203" name="Google Shape;203;p33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488" y="2172100"/>
            <a:ext cx="4515025" cy="23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413249" y="307181"/>
            <a:ext cx="8262600" cy="4358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Experimental Setup</a:t>
            </a:r>
            <a:endParaRPr/>
          </a:p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</p:txBody>
      </p:sp>
      <p:sp>
        <p:nvSpPr>
          <p:cNvPr id="211" name="Google Shape;211;p34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659575" y="743000"/>
            <a:ext cx="8016300" cy="3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1. Optimization Configuration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Baseline (Radford et al.):</a:t>
            </a:r>
            <a:r>
              <a:rPr lang="it"/>
              <a:t> Adam Optimizer (α=0.0002, </a:t>
            </a:r>
            <a:r>
              <a:rPr b="1" lang="it"/>
              <a:t>β1​=0.5</a:t>
            </a:r>
            <a:r>
              <a:rPr lang="it"/>
              <a:t>, β2​=0.999).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Modernized &amp; Limited Models:</a:t>
            </a:r>
            <a:r>
              <a:rPr lang="it"/>
              <a:t> Adam Optimizer (α=0.0002, </a:t>
            </a:r>
            <a:r>
              <a:rPr b="1" lang="it"/>
              <a:t>β1​=0.0</a:t>
            </a:r>
            <a:r>
              <a:rPr lang="it"/>
              <a:t>, β2​=0.99).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it"/>
              <a:t>Reason:</a:t>
            </a:r>
            <a:r>
              <a:rPr lang="it"/>
              <a:t> Reducing β1​ to 0.0 is a modern best practice (StyleGAN) to prevent oscillation.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2. Training Duration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Full Data:</a:t>
            </a:r>
            <a:r>
              <a:rPr lang="it"/>
              <a:t> 50 Epochs × 50k images = </a:t>
            </a:r>
            <a:r>
              <a:rPr b="1" lang="it"/>
              <a:t>2.5M Images Processed</a:t>
            </a:r>
            <a:r>
              <a:rPr lang="it"/>
              <a:t>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Limited Data (20%):</a:t>
            </a:r>
            <a:r>
              <a:rPr lang="it"/>
              <a:t> </a:t>
            </a:r>
            <a:r>
              <a:rPr b="1" lang="it"/>
              <a:t>250 Epochs</a:t>
            </a:r>
            <a:r>
              <a:rPr lang="it"/>
              <a:t> × 10k images = </a:t>
            </a:r>
            <a:r>
              <a:rPr b="1" lang="it"/>
              <a:t>2.5M Images Processed</a:t>
            </a:r>
            <a:r>
              <a:rPr lang="it"/>
              <a:t>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Rationale:</a:t>
            </a:r>
            <a:r>
              <a:rPr lang="it"/>
              <a:t> Matched the </a:t>
            </a:r>
            <a:r>
              <a:rPr b="1" lang="it"/>
              <a:t>Total Images Seen</a:t>
            </a:r>
            <a:r>
              <a:rPr lang="it"/>
              <a:t> (computational budget) across all experiments to ensure a scientifically fair comparison.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3. Evaluation Metric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Fréchet Inception Distance (FID):</a:t>
            </a:r>
            <a:r>
              <a:rPr lang="it"/>
              <a:t> Measures the distance between feature distributions of real and generated images.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1116012" y="307181"/>
            <a:ext cx="7559700" cy="4358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 Evaluation</a:t>
            </a:r>
            <a:endParaRPr/>
          </a:p>
        </p:txBody>
      </p:sp>
      <p:sp>
        <p:nvSpPr>
          <p:cNvPr id="219" name="Google Shape;219;p35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</p:txBody>
      </p:sp>
      <p:sp>
        <p:nvSpPr>
          <p:cNvPr id="220" name="Google Shape;220;p35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221" name="Google Shape;221;p35" title="unna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425" y="895394"/>
            <a:ext cx="5939140" cy="3563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1116012" y="307181"/>
            <a:ext cx="7559700" cy="4358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</p:txBody>
      </p:sp>
      <p:sp>
        <p:nvSpPr>
          <p:cNvPr id="229" name="Google Shape;229;p36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1061875" y="1071725"/>
            <a:ext cx="73152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Stability:</a:t>
            </a:r>
            <a:r>
              <a:rPr lang="it" sz="1800"/>
              <a:t> Modern techniques (R1) are essential for DCGAN.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Efficiency:</a:t>
            </a:r>
            <a:r>
              <a:rPr lang="it" sz="1800"/>
              <a:t> DiffAugment is the key enabler for limited data.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Novelty:</a:t>
            </a:r>
            <a:r>
              <a:rPr lang="it" sz="1800"/>
              <a:t> </a:t>
            </a:r>
            <a:r>
              <a:rPr b="1" lang="it" sz="1800"/>
              <a:t>Adaptive Label Smoothing outperforms R1</a:t>
            </a:r>
            <a:r>
              <a:rPr lang="it" sz="1800"/>
              <a:t> in data-scarce regimes (+23% improvement in FID).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Future Work:</a:t>
            </a:r>
            <a:r>
              <a:rPr lang="it" sz="1800"/>
              <a:t> Combine ALS with stronger architectures like ResNet (StyleGAN).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792162" y="273564"/>
            <a:ext cx="7559700" cy="4358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References</a:t>
            </a:r>
            <a:endParaRPr/>
          </a:p>
        </p:txBody>
      </p:sp>
      <p:sp>
        <p:nvSpPr>
          <p:cNvPr id="237" name="Google Shape;237;p37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r>
              <a:rPr lang="it"/>
              <a:t>/10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 txBox="1"/>
          <p:nvPr/>
        </p:nvSpPr>
        <p:spPr>
          <a:xfrm>
            <a:off x="1163175" y="664227"/>
            <a:ext cx="6942300" cy="4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Radford, A., Metz, L., &amp; Chintala, S.</a:t>
            </a:r>
            <a:r>
              <a:rPr lang="it" sz="1600"/>
              <a:t> </a:t>
            </a:r>
            <a:r>
              <a:rPr i="1" lang="it" sz="1600"/>
              <a:t>Unsupervised Representation Learning with Deep Convolutional Generative Adversarial Networks</a:t>
            </a:r>
            <a:r>
              <a:rPr lang="it" sz="1600"/>
              <a:t> (2015).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Mescheder, L., Geiger, A., &amp; Nowozin, S.</a:t>
            </a:r>
            <a:r>
              <a:rPr lang="it" sz="1600"/>
              <a:t> </a:t>
            </a:r>
            <a:r>
              <a:rPr i="1" lang="it" sz="1600"/>
              <a:t>Which Training Methods for GANs do actually Converge?</a:t>
            </a:r>
            <a:r>
              <a:rPr lang="it" sz="1600"/>
              <a:t> (ICML 2018).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Zhao, S., Liu, Z., Lin, J., Zhu, J.Y., &amp; Han, S.</a:t>
            </a:r>
            <a:r>
              <a:rPr lang="it" sz="1600"/>
              <a:t> </a:t>
            </a:r>
            <a:r>
              <a:rPr i="1" lang="it" sz="1600"/>
              <a:t>Differentiable Augmentation for Data-Efficient GAN Training</a:t>
            </a:r>
            <a:r>
              <a:rPr lang="it" sz="1600"/>
              <a:t>(NeurIPS 2020).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Karras, T., Aittala, M., Hellsten, J., Laine, S., Lehtinen, J., &amp; Aila, T.</a:t>
            </a:r>
            <a:r>
              <a:rPr lang="it" sz="1600"/>
              <a:t> </a:t>
            </a:r>
            <a:r>
              <a:rPr i="1" lang="it" sz="1600"/>
              <a:t>Training Generative Adversarial Networks with Limited Data</a:t>
            </a:r>
            <a:r>
              <a:rPr lang="it" sz="1600"/>
              <a:t> (NeurIPS 2020).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Arjovsky, M., &amp; Bottou, L.</a:t>
            </a:r>
            <a:r>
              <a:rPr lang="it" sz="1600"/>
              <a:t> </a:t>
            </a:r>
            <a:r>
              <a:rPr i="1" lang="it" sz="1600"/>
              <a:t>Towards Principled Methods for Training Generative Adversarial Networks</a:t>
            </a:r>
            <a:r>
              <a:rPr lang="it" sz="1600"/>
              <a:t> (ICLR 2017).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Goodfellow, I., et al.</a:t>
            </a:r>
            <a:r>
              <a:rPr lang="it" sz="1600"/>
              <a:t> </a:t>
            </a:r>
            <a:r>
              <a:rPr i="1" lang="it" sz="1600"/>
              <a:t>Generative Adversarial Nets</a:t>
            </a:r>
            <a:r>
              <a:rPr lang="it" sz="1600"/>
              <a:t> (NIPS 2014).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/>
          </a:p>
        </p:txBody>
      </p:sp>
      <p:sp>
        <p:nvSpPr>
          <p:cNvPr id="239" name="Google Shape;239;p37"/>
          <p:cNvSpPr txBox="1"/>
          <p:nvPr/>
        </p:nvSpPr>
        <p:spPr>
          <a:xfrm>
            <a:off x="1219200" y="4611281"/>
            <a:ext cx="367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" sz="1500">
                <a:solidFill>
                  <a:schemeClr val="lt1"/>
                </a:solidFill>
              </a:rPr>
              <a:t>Computer Vision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